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72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  <p:sldId id="267" r:id="rId13"/>
    <p:sldId id="269" r:id="rId14"/>
    <p:sldId id="268" r:id="rId15"/>
    <p:sldId id="270" r:id="rId16"/>
    <p:sldId id="271" r:id="rId17"/>
    <p:sldId id="257" r:id="rId18"/>
    <p:sldId id="273" r:id="rId1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025" autoAdjust="0"/>
  </p:normalViewPr>
  <p:slideViewPr>
    <p:cSldViewPr snapToGrid="0">
      <p:cViewPr varScale="1">
        <p:scale>
          <a:sx n="64" d="100"/>
          <a:sy n="64" d="100"/>
        </p:scale>
        <p:origin x="1022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7FB1BA-198B-4996-93A2-B375DE72EA52}" type="datetimeFigureOut">
              <a:rPr lang="zh-CN" altLang="en-US" smtClean="0"/>
              <a:t>2025/10/8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1BB0B4-1F81-4F66-9701-E24E9C6524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19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各个方向亮度一样。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1BB0B4-1F81-4F66-9701-E24E9C65242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2782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4BB0D7-68D6-4F37-B359-3791456AB6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BDD81FE-27DD-42E8-96F5-37360735F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6902E2-09D4-4B4C-9F48-502F4913F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D89B3-0B17-4081-86FE-C8DF862101CE}" type="datetimeFigureOut">
              <a:rPr lang="zh-CN" altLang="en-US" smtClean="0"/>
              <a:t>2025/10/8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2A6756-E058-4BDC-B602-64B8552ED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D3DD25-AFA5-48C9-A1B7-0184B4775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51FA5-AD56-462F-B133-1ED24F810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4512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82A0EC-E4C3-44D0-A6E7-F2380B566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D0F3A8-EC70-4ADE-9DBD-85345442D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2D5A5C-346E-4F82-9E34-E71E52728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D89B3-0B17-4081-86FE-C8DF862101CE}" type="datetimeFigureOut">
              <a:rPr lang="zh-CN" altLang="en-US" smtClean="0"/>
              <a:t>2025/10/8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9E68E4-43D6-415B-AD1B-728019A52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FCA847-FA9E-4F52-ACE5-2625753BF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51FA5-AD56-462F-B133-1ED24F810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5516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378C33-A31D-459A-96BF-74EE3E09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734FBA-CDEE-4A86-B5DE-26D58ADB8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DDE367-C10F-4943-8977-C0EBB9836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D89B3-0B17-4081-86FE-C8DF862101CE}" type="datetimeFigureOut">
              <a:rPr lang="zh-CN" altLang="en-US" smtClean="0"/>
              <a:t>2025/10/8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634FBD-7936-4B8A-853F-FA029F9DC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B963F2-9782-461F-B8BF-21597EB1C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51FA5-AD56-462F-B133-1ED24F810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3557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B8E00B-0676-4FED-AAB9-CA1FA9944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4224EF-F2F9-4BFE-9D9D-267CF1CFED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BA3F3E3-3609-429D-AD2B-EDDAC6DF9E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2C68D38-09E1-4799-9877-EE4F6806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D89B3-0B17-4081-86FE-C8DF862101CE}" type="datetimeFigureOut">
              <a:rPr lang="zh-CN" altLang="en-US" smtClean="0"/>
              <a:t>2025/10/8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D3D6C96-2C40-415C-8EE3-2F25D05AC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2E09133-FE7D-4C18-A3EA-8E15ACE3D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51FA5-AD56-462F-B133-1ED24F810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101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F24192-37C7-49EB-8A25-515F56637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E75D10-3228-49BC-8C06-63F95BE72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7BA80A4-960A-45B3-9435-4205F5AA4D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F4BDCB8-48B7-4F9A-A1C2-948A2557DB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35A7F15-28BA-4D0D-8D0B-95EC643E77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99BC032-AD50-4142-8834-D14F7DE55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D89B3-0B17-4081-86FE-C8DF862101CE}" type="datetimeFigureOut">
              <a:rPr lang="zh-CN" altLang="en-US" smtClean="0"/>
              <a:t>2025/10/8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2783701-1382-47DD-936E-2209EBC0E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BA0D18E-45DB-4F0A-9BE0-48824B08D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51FA5-AD56-462F-B133-1ED24F810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7322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67342E-E048-4448-9AB7-B38DC8847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E39A5D2-440F-4032-AAF7-4C7B46E45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D89B3-0B17-4081-86FE-C8DF862101CE}" type="datetimeFigureOut">
              <a:rPr lang="zh-CN" altLang="en-US" smtClean="0"/>
              <a:t>2025/10/8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A9DE794-24B1-4F4F-A0A1-7463F34C6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B2C163-26EE-47FD-8BF6-9022EABCC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51FA5-AD56-462F-B133-1ED24F810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7211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1B8F254-243B-4C16-B9E1-0EAB52BB2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D89B3-0B17-4081-86FE-C8DF862101CE}" type="datetimeFigureOut">
              <a:rPr lang="zh-CN" altLang="en-US" smtClean="0"/>
              <a:t>2025/10/8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58EC63E-A7F8-4B2E-BA19-C67094660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7169EB-7996-4EB9-A40F-49F228CFE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51FA5-AD56-462F-B133-1ED24F810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5761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6D7654-343F-472A-928A-C094B085C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47996B-D324-4456-89FD-83FE78B3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7892DE8-2563-4F2A-A462-E617C78847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5383C21-7A9E-4758-AFC5-B3B7139B8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D89B3-0B17-4081-86FE-C8DF862101CE}" type="datetimeFigureOut">
              <a:rPr lang="zh-CN" altLang="en-US" smtClean="0"/>
              <a:t>2025/10/8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9BD19C-AB6C-4A68-AF23-0962C4E9B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5DA8CD-1515-4BB8-BE96-9B499F527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51FA5-AD56-462F-B133-1ED24F810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0733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6A7538-A7AA-42FE-8AD4-5E3C22A8F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A78BCCB-75FB-4D1E-97AF-F6CFBB229B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59A92A-5B3D-4ECF-B38B-83572F8F14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EA88024-309A-49CC-84AB-FE995FD60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D89B3-0B17-4081-86FE-C8DF862101CE}" type="datetimeFigureOut">
              <a:rPr lang="zh-CN" altLang="en-US" smtClean="0"/>
              <a:t>2025/10/8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E0252E2-E7C5-4D33-A263-E5D268834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5EE792-65F6-40EE-95EB-6F428A77D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51FA5-AD56-462F-B133-1ED24F810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003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C78EA5-22B9-4EEA-AFF9-B87D70790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8875AC5-18A0-497D-A77A-27BAFC914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06D578-90E3-408C-ACB9-39C66DAC9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D89B3-0B17-4081-86FE-C8DF862101CE}" type="datetimeFigureOut">
              <a:rPr lang="zh-CN" altLang="en-US" smtClean="0"/>
              <a:t>2025/10/8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BEAA6B-6B6A-48A2-B0BE-A35B0BF9A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331E19-B872-48F6-8A5A-FD25D5CDF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51FA5-AD56-462F-B133-1ED24F810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9032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DB31A95-4F44-4119-8AD6-AD69FD90A0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54BE132-F6CC-43E5-A92C-3A1B87FAC6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8204E5-C992-4D0C-AE42-E889E5395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D89B3-0B17-4081-86FE-C8DF862101CE}" type="datetimeFigureOut">
              <a:rPr lang="zh-CN" altLang="en-US" smtClean="0"/>
              <a:t>2025/10/8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FB9DBD-DE15-49ED-8556-B1B1C571E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FBA75B-5F48-4818-9469-47485EE03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51FA5-AD56-462F-B133-1ED24F810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6118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C63600A-7BE0-4F10-AD3C-A65F77B17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A4C3FD9-2ED3-4158-9C68-17CA6D4DE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77BCBE-9ECA-455F-9243-20D26E068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CD89B3-0B17-4081-86FE-C8DF862101CE}" type="datetimeFigureOut">
              <a:rPr lang="zh-CN" altLang="en-US" smtClean="0"/>
              <a:t>2025/10/8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D1E09F-598E-407C-AEF3-E9705C9725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B09936-75D6-44DA-BD54-CAECE2DB20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51FA5-AD56-462F-B133-1ED24F810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7246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image" Target="../media/image17.wmf"/><Relationship Id="rId7" Type="http://schemas.openxmlformats.org/officeDocument/2006/relationships/image" Target="../media/image19.wmf"/><Relationship Id="rId12" Type="http://schemas.openxmlformats.org/officeDocument/2006/relationships/image" Target="../media/image29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8.wmf"/><Relationship Id="rId10" Type="http://schemas.openxmlformats.org/officeDocument/2006/relationships/image" Target="../media/image21.e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20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7" Type="http://schemas.openxmlformats.org/officeDocument/2006/relationships/image" Target="../media/image2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image" Target="../media/image29.wmf"/><Relationship Id="rId7" Type="http://schemas.openxmlformats.org/officeDocument/2006/relationships/image" Target="../media/image31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30.wmf"/><Relationship Id="rId10" Type="http://schemas.openxmlformats.org/officeDocument/2006/relationships/image" Target="../media/image33.e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32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B6707B-8F26-4FC0-BA22-6053145468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0807" y="354457"/>
            <a:ext cx="6858000" cy="807860"/>
          </a:xfrm>
        </p:spPr>
        <p:txBody>
          <a:bodyPr>
            <a:normAutofit/>
          </a:bodyPr>
          <a:lstStyle/>
          <a:p>
            <a:r>
              <a:rPr lang="en-US" altLang="zh-CN" sz="4000" dirty="0">
                <a:latin typeface="黑体" panose="02010609060101010101" pitchFamily="49" charset="-122"/>
                <a:ea typeface="黑体" panose="02010609060101010101" pitchFamily="49" charset="-122"/>
              </a:rPr>
              <a:t>§11 </a:t>
            </a:r>
            <a:r>
              <a:rPr lang="zh-CN" altLang="en-US" sz="4000" dirty="0">
                <a:latin typeface="黑体" panose="02010609060101010101" pitchFamily="49" charset="-122"/>
                <a:ea typeface="黑体" panose="02010609060101010101" pitchFamily="49" charset="-122"/>
              </a:rPr>
              <a:t>光度学基本概念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CF820BE-C9BC-4647-BA85-5164993B15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1674688"/>
            <a:ext cx="6858000" cy="3878494"/>
          </a:xfrm>
        </p:spPr>
        <p:txBody>
          <a:bodyPr/>
          <a:lstStyle/>
          <a:p>
            <a:pPr algn="l">
              <a:lnSpc>
                <a:spcPct val="125000"/>
              </a:lnSpc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§11.1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辐射能通量和光通量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§11.2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发光强度和亮度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§11.3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余弦发射体和定向发射体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§11.4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照度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§11.5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光度学单位的定义</a:t>
            </a:r>
          </a:p>
        </p:txBody>
      </p:sp>
    </p:spTree>
    <p:extLst>
      <p:ext uri="{BB962C8B-B14F-4D97-AF65-F5344CB8AC3E}">
        <p14:creationId xmlns:p14="http://schemas.microsoft.com/office/powerpoint/2010/main" val="2406885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>
            <a:extLst>
              <a:ext uri="{FF2B5EF4-FFF2-40B4-BE49-F238E27FC236}">
                <a16:creationId xmlns:a16="http://schemas.microsoft.com/office/drawing/2014/main" id="{EFE529D2-481C-477A-AEFE-D3DA6165D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913" y="913722"/>
            <a:ext cx="4153215" cy="5301605"/>
          </a:xfrm>
          <a:prstGeom prst="rect">
            <a:avLst/>
          </a:prstGeom>
          <a:noFill/>
          <a:ln w="25400">
            <a:solidFill>
              <a:srgbClr val="C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51D2E13E-DB5A-4AB5-8423-C169990037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1511" y="913722"/>
            <a:ext cx="4015314" cy="5301605"/>
          </a:xfrm>
          <a:prstGeom prst="rect">
            <a:avLst/>
          </a:prstGeom>
          <a:noFill/>
          <a:ln w="25400">
            <a:solidFill>
              <a:srgbClr val="C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2256C42-4E81-4F2D-ABD8-9E1A4A428AFC}"/>
              </a:ext>
            </a:extLst>
          </p:cNvPr>
          <p:cNvSpPr txBox="1"/>
          <p:nvPr/>
        </p:nvSpPr>
        <p:spPr>
          <a:xfrm>
            <a:off x="795338" y="290513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辐射度量学、光度学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CA4FCA0-5B18-4416-B1D5-AF31C1156F30}"/>
              </a:ext>
            </a:extLst>
          </p:cNvPr>
          <p:cNvSpPr txBox="1"/>
          <p:nvPr/>
        </p:nvSpPr>
        <p:spPr>
          <a:xfrm>
            <a:off x="5834054" y="290512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视觉与视觉光学</a:t>
            </a:r>
          </a:p>
        </p:txBody>
      </p:sp>
    </p:spTree>
    <p:extLst>
      <p:ext uri="{BB962C8B-B14F-4D97-AF65-F5344CB8AC3E}">
        <p14:creationId xmlns:p14="http://schemas.microsoft.com/office/powerpoint/2010/main" val="2972513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3732D73-BAB2-4C48-8527-4A0AA9E9FEBD}"/>
              </a:ext>
            </a:extLst>
          </p:cNvPr>
          <p:cNvSpPr/>
          <p:nvPr/>
        </p:nvSpPr>
        <p:spPr>
          <a:xfrm>
            <a:off x="293764" y="207790"/>
            <a:ext cx="4673074" cy="55688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§11.1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辐射能通量和光通量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22240D33-AB45-4D68-9966-DB3A89CB3A3E}"/>
              </a:ext>
            </a:extLst>
          </p:cNvPr>
          <p:cNvSpPr txBox="1">
            <a:spLocks noChangeArrowheads="1"/>
          </p:cNvSpPr>
          <p:nvPr/>
        </p:nvSpPr>
        <p:spPr bwMode="invGray">
          <a:xfrm>
            <a:off x="398906" y="935700"/>
            <a:ext cx="760875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光度学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：研究光的强弱的学科 → 人眼（主观）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42F1F65C-8A3C-44F5-81A5-FB7575385E5C}"/>
              </a:ext>
            </a:extLst>
          </p:cNvPr>
          <p:cNvSpPr txBox="1">
            <a:spLocks noChangeArrowheads="1"/>
          </p:cNvSpPr>
          <p:nvPr/>
        </p:nvSpPr>
        <p:spPr bwMode="invGray">
          <a:xfrm>
            <a:off x="406818" y="1437470"/>
            <a:ext cx="79608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辐射度学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：研究电磁辐射强弱的学科 → 功率（物理）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5F596215-F069-4199-A0C3-0BBD563E0C3E}"/>
              </a:ext>
            </a:extLst>
          </p:cNvPr>
          <p:cNvSpPr txBox="1">
            <a:spLocks noChangeArrowheads="1"/>
          </p:cNvSpPr>
          <p:nvPr/>
        </p:nvSpPr>
        <p:spPr bwMode="invGray">
          <a:xfrm>
            <a:off x="251520" y="2155866"/>
            <a:ext cx="7960880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辐射能通量（辐射功率）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：单位时间内光源发出或通过一定接收截面的辐射能。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记为</a:t>
            </a:r>
            <a:r>
              <a:rPr lang="el-GR" altLang="zh-CN" sz="2400" i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Ψ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；单位：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W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kW</a:t>
            </a:r>
          </a:p>
          <a:p>
            <a:pPr eaLnBrk="1" hangingPunct="1"/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eaLnBrk="1" hangingPunct="1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对于非单色辐射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eaLnBrk="1" hangingPunct="1"/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eaLnBrk="1" hangingPunct="1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其中，           为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辐射能通量的谱密度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，描述辐射能在频谱中的分布。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D8C2F24-8161-4F90-AD09-120815F79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784" y="4149080"/>
            <a:ext cx="2214286" cy="485714"/>
          </a:xfrm>
          <a:prstGeom prst="rect">
            <a:avLst/>
          </a:prstGeom>
        </p:spPr>
      </p:pic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7574A554-7905-4D99-B566-036276CB16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126270"/>
              </p:ext>
            </p:extLst>
          </p:nvPr>
        </p:nvGraphicFramePr>
        <p:xfrm>
          <a:off x="1187624" y="4799024"/>
          <a:ext cx="960978" cy="6406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80880" imgH="253800" progId="Equation.DSMT4">
                  <p:embed/>
                </p:oleObj>
              </mc:Choice>
              <mc:Fallback>
                <p:oleObj name="Equation" r:id="rId3" imgW="380880" imgH="253800" progId="Equation.DSMT4">
                  <p:embed/>
                  <p:pic>
                    <p:nvPicPr>
                      <p:cNvPr id="36" name="对象 35">
                        <a:extLst>
                          <a:ext uri="{FF2B5EF4-FFF2-40B4-BE49-F238E27FC236}">
                            <a16:creationId xmlns:a16="http://schemas.microsoft.com/office/drawing/2014/main" id="{9F89BE1F-822B-43E3-B3E6-839BDD2E71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87624" y="4799024"/>
                        <a:ext cx="960978" cy="6406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35402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1A17C62-D82B-4873-A527-95138DEEDF01}"/>
              </a:ext>
            </a:extLst>
          </p:cNvPr>
          <p:cNvSpPr/>
          <p:nvPr/>
        </p:nvSpPr>
        <p:spPr>
          <a:xfrm>
            <a:off x="283130" y="746356"/>
            <a:ext cx="8398533" cy="9411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光谱响应</a:t>
            </a:r>
            <a:r>
              <a:rPr lang="en-US" altLang="zh-CN" sz="2400" i="1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l-GR" altLang="zh-CN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λ</a:t>
            </a:r>
            <a:r>
              <a:rPr lang="zh-CN" altLang="en-US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检测器件的输出讯号（电压、电流）的大小与某个波长入射光功率之比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B15593B-169E-41E2-897F-C9148F66D13D}"/>
              </a:ext>
            </a:extLst>
          </p:cNvPr>
          <p:cNvSpPr txBox="1"/>
          <p:nvPr/>
        </p:nvSpPr>
        <p:spPr>
          <a:xfrm>
            <a:off x="283130" y="179798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对于检测器件来说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F736BA8-D1EB-4FE4-AD92-1B8982E28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940" y="1922906"/>
            <a:ext cx="5970912" cy="4524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81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D45E2D0-A694-4375-8810-A27F48EE30AA}"/>
              </a:ext>
            </a:extLst>
          </p:cNvPr>
          <p:cNvSpPr txBox="1"/>
          <p:nvPr/>
        </p:nvSpPr>
        <p:spPr>
          <a:xfrm>
            <a:off x="416104" y="292813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人眼的光谱响应特征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C585120D-E72A-4E8C-A323-A53B893075B0}"/>
                  </a:ext>
                </a:extLst>
              </p:cNvPr>
              <p:cNvSpPr/>
              <p:nvPr/>
            </p:nvSpPr>
            <p:spPr>
              <a:xfrm>
                <a:off x="416104" y="2194183"/>
                <a:ext cx="8286201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视见函数：</a:t>
                </a:r>
                <a:r>
                  <a:rPr lang="zh-CN" altLang="en-US" sz="24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任一波长为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zh-CN" altLang="en-US" sz="24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的光和波长为</a:t>
                </a:r>
                <a:r>
                  <a:rPr lang="en-US" altLang="zh-CN" sz="24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555nm</a:t>
                </a:r>
                <a:r>
                  <a:rPr lang="zh-CN" altLang="en-US" sz="24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的光，产生同样亮暗感觉所需的辐射能通量分别为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Δ</m:t>
                    </m:r>
                    <m:sSub>
                      <m:sSubPr>
                        <m:ctrlPr>
                          <a:rPr lang="el-GR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Ψ</m:t>
                        </m:r>
                      </m:e>
                      <m:sub>
                        <m:r>
                          <a:rPr lang="zh-CN" altLang="el-G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Δ</m:t>
                    </m:r>
                    <m:sSub>
                      <m:sSubPr>
                        <m:ctrlPr>
                          <a:rPr lang="el-GR" altLang="zh-CN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Ψ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555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，其比值</a:t>
                </a: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C585120D-E72A-4E8C-A323-A53B893075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104" y="2194183"/>
                <a:ext cx="8286201" cy="830997"/>
              </a:xfrm>
              <a:prstGeom prst="rect">
                <a:avLst/>
              </a:prstGeom>
              <a:blipFill>
                <a:blip r:embed="rId2"/>
                <a:stretch>
                  <a:fillRect l="-1103" t="-8088" b="-139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EF620FD1-3DCC-4BF0-8FFB-AB986CB656E3}"/>
              </a:ext>
            </a:extLst>
          </p:cNvPr>
          <p:cNvSpPr txBox="1"/>
          <p:nvPr/>
        </p:nvSpPr>
        <p:spPr>
          <a:xfrm>
            <a:off x="463839" y="852456"/>
            <a:ext cx="83359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方法：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将不同波长的光引起相同亮暗感觉所需的辐射通量进行比较。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D136A5A-3727-4AEC-A0A6-6B83B7D38DB9}"/>
              </a:ext>
            </a:extLst>
          </p:cNvPr>
          <p:cNvSpPr txBox="1"/>
          <p:nvPr/>
        </p:nvSpPr>
        <p:spPr>
          <a:xfrm>
            <a:off x="463839" y="1678691"/>
            <a:ext cx="27238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基准波长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555 nm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EADC313E-B11A-4AEF-8AA1-D827A4E9A4CD}"/>
                  </a:ext>
                </a:extLst>
              </p:cNvPr>
              <p:cNvSpPr/>
              <p:nvPr/>
            </p:nvSpPr>
            <p:spPr>
              <a:xfrm>
                <a:off x="504789" y="3138012"/>
                <a:ext cx="2092175" cy="8466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l-GR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Ψ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555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l-GR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l-GR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Ψ</m:t>
                              </m:r>
                            </m:e>
                            <m:sub>
                              <m:r>
                                <a:rPr lang="zh-CN" altLang="el-GR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EADC313E-B11A-4AEF-8AA1-D827A4E9A4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789" y="3138012"/>
                <a:ext cx="2092175" cy="8466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DDB34D52-68E2-40BE-9BCD-8E544BAC2D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613" y="3109618"/>
            <a:ext cx="4622611" cy="369283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356D994-71B4-42BC-8332-2A5CBE24CF5B}"/>
              </a:ext>
            </a:extLst>
          </p:cNvPr>
          <p:cNvSpPr txBox="1"/>
          <p:nvPr/>
        </p:nvSpPr>
        <p:spPr>
          <a:xfrm>
            <a:off x="333911" y="4097486"/>
            <a:ext cx="37240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例：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1.0mW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555 nm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的绿光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   2.5 W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400 nm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的紫光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BA712180-0DCB-40D6-BDC1-475647C60425}"/>
                  </a:ext>
                </a:extLst>
              </p:cNvPr>
              <p:cNvSpPr/>
              <p:nvPr/>
            </p:nvSpPr>
            <p:spPr>
              <a:xfrm>
                <a:off x="463839" y="5090275"/>
                <a:ext cx="3381054" cy="7861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1 </m:t>
                          </m:r>
                          <m:r>
                            <m:rPr>
                              <m:sty m:val="p"/>
                            </m:r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mW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2.5 </m:t>
                          </m:r>
                          <m:r>
                            <m:rPr>
                              <m:sty m:val="p"/>
                            </m:r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W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=0.0004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BA712180-0DCB-40D6-BDC1-475647C604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839" y="5090275"/>
                <a:ext cx="3381054" cy="7861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0BB6CE67-2F13-40B4-8E9F-2E756D465A3B}"/>
              </a:ext>
            </a:extLst>
          </p:cNvPr>
          <p:cNvSpPr txBox="1"/>
          <p:nvPr/>
        </p:nvSpPr>
        <p:spPr>
          <a:xfrm>
            <a:off x="5219273" y="3753821"/>
            <a:ext cx="354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暗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537E29D-ECE2-46F1-99D1-C0387055F3A9}"/>
              </a:ext>
            </a:extLst>
          </p:cNvPr>
          <p:cNvSpPr txBox="1"/>
          <p:nvPr/>
        </p:nvSpPr>
        <p:spPr>
          <a:xfrm>
            <a:off x="7055756" y="4051319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亮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474AFAE-51DA-45F7-93AA-4AB9E7480209}"/>
              </a:ext>
            </a:extLst>
          </p:cNvPr>
          <p:cNvSpPr txBox="1"/>
          <p:nvPr/>
        </p:nvSpPr>
        <p:spPr>
          <a:xfrm>
            <a:off x="2146450" y="6027874"/>
            <a:ext cx="215956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适光性视见函数</a:t>
            </a:r>
            <a:endParaRPr lang="en-US" altLang="zh-CN" sz="22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200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适暗性视见函数</a:t>
            </a:r>
          </a:p>
        </p:txBody>
      </p:sp>
    </p:spTree>
    <p:extLst>
      <p:ext uri="{BB962C8B-B14F-4D97-AF65-F5344CB8AC3E}">
        <p14:creationId xmlns:p14="http://schemas.microsoft.com/office/powerpoint/2010/main" val="96207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EEC9116-49AD-4AD7-8FF7-4486743050AB}"/>
              </a:ext>
            </a:extLst>
          </p:cNvPr>
          <p:cNvSpPr/>
          <p:nvPr/>
        </p:nvSpPr>
        <p:spPr>
          <a:xfrm>
            <a:off x="332894" y="304759"/>
            <a:ext cx="8735084" cy="1135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光通量：</a:t>
            </a:r>
            <a:endParaRPr lang="en-US" altLang="zh-CN" sz="2400" dirty="0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辐射通量以视见函数为权重因子折合成对眼睛的有效数量。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2">
                <a:extLst>
                  <a:ext uri="{FF2B5EF4-FFF2-40B4-BE49-F238E27FC236}">
                    <a16:creationId xmlns:a16="http://schemas.microsoft.com/office/drawing/2014/main" id="{C913D98C-4616-4E7C-A87A-BBAAB70BA581}"/>
                  </a:ext>
                </a:extLst>
              </p:cNvPr>
              <p:cNvSpPr txBox="1"/>
              <p:nvPr/>
            </p:nvSpPr>
            <p:spPr>
              <a:xfrm>
                <a:off x="1017142" y="1728786"/>
                <a:ext cx="3753189" cy="6477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nary>
                        <m:naryPr>
                          <m:subHide m:val="on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对象 2">
                <a:extLst>
                  <a:ext uri="{FF2B5EF4-FFF2-40B4-BE49-F238E27FC236}">
                    <a16:creationId xmlns:a16="http://schemas.microsoft.com/office/drawing/2014/main" id="{C913D98C-4616-4E7C-A87A-BBAAB70BA5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42" y="1728786"/>
                <a:ext cx="3753189" cy="647700"/>
              </a:xfrm>
              <a:prstGeom prst="rect">
                <a:avLst/>
              </a:prstGeom>
              <a:blipFill>
                <a:blip r:embed="rId2"/>
                <a:stretch>
                  <a:fillRect b="-33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7466EA5B-35A4-4580-97F9-72EF5B85353D}"/>
              </a:ext>
            </a:extLst>
          </p:cNvPr>
          <p:cNvSpPr/>
          <p:nvPr/>
        </p:nvSpPr>
        <p:spPr>
          <a:xfrm>
            <a:off x="5267472" y="1922937"/>
            <a:ext cx="35702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单位：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lumen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lm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 流明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>
                <a:extLst>
                  <a:ext uri="{FF2B5EF4-FFF2-40B4-BE49-F238E27FC236}">
                    <a16:creationId xmlns:a16="http://schemas.microsoft.com/office/drawing/2014/main" id="{D3C59017-07E9-420B-A1B6-10265BEEBC5C}"/>
                  </a:ext>
                </a:extLst>
              </p:cNvPr>
              <p:cNvSpPr txBox="1"/>
              <p:nvPr/>
            </p:nvSpPr>
            <p:spPr>
              <a:xfrm>
                <a:off x="1635928" y="3164681"/>
                <a:ext cx="2776823" cy="528637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=683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𝑙𝑚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对象 4">
                <a:extLst>
                  <a:ext uri="{FF2B5EF4-FFF2-40B4-BE49-F238E27FC236}">
                    <a16:creationId xmlns:a16="http://schemas.microsoft.com/office/drawing/2014/main" id="{D3C59017-07E9-420B-A1B6-10265BEEBC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928" y="3164681"/>
                <a:ext cx="2776823" cy="5286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03D99CC9-FAC3-4710-9932-5C6B48817320}"/>
              </a:ext>
            </a:extLst>
          </p:cNvPr>
          <p:cNvSpPr/>
          <p:nvPr/>
        </p:nvSpPr>
        <p:spPr>
          <a:xfrm>
            <a:off x="4951588" y="3134099"/>
            <a:ext cx="35012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最大光功当量（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555nm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213562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1D6A196-C781-4D90-86B8-1AFAADE83AC8}"/>
              </a:ext>
            </a:extLst>
          </p:cNvPr>
          <p:cNvSpPr/>
          <p:nvPr/>
        </p:nvSpPr>
        <p:spPr>
          <a:xfrm>
            <a:off x="385896" y="248887"/>
            <a:ext cx="3954929" cy="55688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§11.2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发光强度和亮度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9569DFB-0871-4BAF-85D4-74B533BF540A}"/>
              </a:ext>
            </a:extLst>
          </p:cNvPr>
          <p:cNvSpPr txBox="1"/>
          <p:nvPr/>
        </p:nvSpPr>
        <p:spPr>
          <a:xfrm>
            <a:off x="467474" y="1070510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(1)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点光源的发光强度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6507134-EA63-4D71-9707-00EA5110C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845" y="1633654"/>
            <a:ext cx="5917439" cy="228690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26B0BF3-17D0-44A7-81F6-471656BCB7B0}"/>
              </a:ext>
            </a:extLst>
          </p:cNvPr>
          <p:cNvSpPr txBox="1"/>
          <p:nvPr/>
        </p:nvSpPr>
        <p:spPr>
          <a:xfrm>
            <a:off x="478571" y="4149276"/>
            <a:ext cx="818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发光强度：沿某一特定方向上单位立体角内发出的光通量。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05C23AD-3D19-49BF-8842-722E3F668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0716" y="4875677"/>
            <a:ext cx="1398201" cy="101776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DAA9D84-EABC-4A3B-91A2-C67FE7DA30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9906" y="4916205"/>
            <a:ext cx="2861033" cy="87128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E4DC53E-9498-48B0-AB8E-021CCE92339A}"/>
              </a:ext>
            </a:extLst>
          </p:cNvPr>
          <p:cNvSpPr txBox="1"/>
          <p:nvPr/>
        </p:nvSpPr>
        <p:spPr>
          <a:xfrm>
            <a:off x="6738056" y="5059396"/>
            <a:ext cx="474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417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0979AB9-B2DB-4E23-AC35-67C72D132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7980" y="764860"/>
            <a:ext cx="4903309" cy="4934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684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749F8A9-9B87-408F-95EB-3667AACF38F2}"/>
              </a:ext>
            </a:extLst>
          </p:cNvPr>
          <p:cNvSpPr txBox="1"/>
          <p:nvPr/>
        </p:nvSpPr>
        <p:spPr>
          <a:xfrm>
            <a:off x="436652" y="344184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(2)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扩展光源或者面光源的光度学亮度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67B3205-EC9F-4F10-884B-5A77C54BF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216" y="1054069"/>
            <a:ext cx="6708214" cy="320561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2B27FDD-6D3A-4D09-A754-B1C86875559A}"/>
              </a:ext>
            </a:extLst>
          </p:cNvPr>
          <p:cNvSpPr txBox="1"/>
          <p:nvPr/>
        </p:nvSpPr>
        <p:spPr>
          <a:xfrm>
            <a:off x="555516" y="4365555"/>
            <a:ext cx="80329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光度学亮度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：某一特定方向上单位投影面积的发光强度。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557A72F-2348-47CD-BC52-004BBDBAB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52" y="5121489"/>
            <a:ext cx="2742387" cy="95824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0819F5B-95C9-43FE-B79E-9E6101E0FC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2984" y="5067885"/>
            <a:ext cx="3478699" cy="106545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609472C-C458-47D7-8783-318559E479EE}"/>
              </a:ext>
            </a:extLst>
          </p:cNvPr>
          <p:cNvSpPr txBox="1"/>
          <p:nvPr/>
        </p:nvSpPr>
        <p:spPr>
          <a:xfrm>
            <a:off x="3413452" y="5329721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7651233-BB97-416C-94F1-0A745B215FC7}"/>
              </a:ext>
            </a:extLst>
          </p:cNvPr>
          <p:cNvSpPr txBox="1"/>
          <p:nvPr/>
        </p:nvSpPr>
        <p:spPr>
          <a:xfrm>
            <a:off x="369835" y="6135218"/>
            <a:ext cx="38266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单位：流明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球面度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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平方米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50C2E08-979F-4CB1-8B67-33394EAA04BA}"/>
              </a:ext>
            </a:extLst>
          </p:cNvPr>
          <p:cNvSpPr txBox="1"/>
          <p:nvPr/>
        </p:nvSpPr>
        <p:spPr>
          <a:xfrm>
            <a:off x="4508487" y="6258328"/>
            <a:ext cx="44165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熙提 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流明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球面度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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平方厘米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78786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1F4E8C0-0775-46C3-A8A7-7C07CB03B00F}"/>
              </a:ext>
            </a:extLst>
          </p:cNvPr>
          <p:cNvSpPr txBox="1"/>
          <p:nvPr/>
        </p:nvSpPr>
        <p:spPr>
          <a:xfrm>
            <a:off x="441788" y="349322"/>
            <a:ext cx="43140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）辐射强度和辐射亮度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47319DC-FE66-44BC-8C2F-4BE00BF87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222" y="1281832"/>
            <a:ext cx="1495031" cy="4320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F986B04-69C6-4D7E-8302-871037649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768" y="1281832"/>
            <a:ext cx="2026504" cy="432000"/>
          </a:xfrm>
          <a:prstGeom prst="rect">
            <a:avLst/>
          </a:prstGeom>
        </p:spPr>
      </p:pic>
      <p:sp>
        <p:nvSpPr>
          <p:cNvPr id="5" name="箭头: 虚尾 4">
            <a:extLst>
              <a:ext uri="{FF2B5EF4-FFF2-40B4-BE49-F238E27FC236}">
                <a16:creationId xmlns:a16="http://schemas.microsoft.com/office/drawing/2014/main" id="{7D985209-F266-4DBA-8BDA-6572B16C971C}"/>
              </a:ext>
            </a:extLst>
          </p:cNvPr>
          <p:cNvSpPr/>
          <p:nvPr/>
        </p:nvSpPr>
        <p:spPr>
          <a:xfrm>
            <a:off x="2979506" y="1428481"/>
            <a:ext cx="765424" cy="138701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CAAE5A1-CCF8-46C3-AA0B-E4D5185CEF7A}"/>
              </a:ext>
            </a:extLst>
          </p:cNvPr>
          <p:cNvSpPr txBox="1"/>
          <p:nvPr/>
        </p:nvSpPr>
        <p:spPr>
          <a:xfrm>
            <a:off x="565902" y="2186255"/>
            <a:ext cx="8802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辐射强度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：沿某一特定方向上单位立体角内发出的辐射通量。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5A081BD-F978-4B56-BA01-2AF15C24D3E9}"/>
                  </a:ext>
                </a:extLst>
              </p:cNvPr>
              <p:cNvSpPr txBox="1"/>
              <p:nvPr/>
            </p:nvSpPr>
            <p:spPr>
              <a:xfrm>
                <a:off x="2142161" y="2880895"/>
                <a:ext cx="1030282" cy="7012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l-GR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Ψ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l-GR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5A081BD-F978-4B56-BA01-2AF15C24D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2161" y="2880895"/>
                <a:ext cx="1030282" cy="7012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39DADEA7-FDC7-4BEE-B635-DD28FB7944F7}"/>
              </a:ext>
            </a:extLst>
          </p:cNvPr>
          <p:cNvSpPr txBox="1"/>
          <p:nvPr/>
        </p:nvSpPr>
        <p:spPr>
          <a:xfrm>
            <a:off x="4027471" y="3000671"/>
            <a:ext cx="24929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单位：瓦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球面度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B4B7B6D-3D50-4079-868C-0EED59D19C43}"/>
              </a:ext>
            </a:extLst>
          </p:cNvPr>
          <p:cNvSpPr txBox="1"/>
          <p:nvPr/>
        </p:nvSpPr>
        <p:spPr>
          <a:xfrm>
            <a:off x="612024" y="4083015"/>
            <a:ext cx="80842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辐射亮度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：某一特定方向上单位投影面积的辐射强度。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31E3520-259A-4875-86FC-CBC6E8B5766E}"/>
                  </a:ext>
                </a:extLst>
              </p:cNvPr>
              <p:cNvSpPr txBox="1"/>
              <p:nvPr/>
            </p:nvSpPr>
            <p:spPr>
              <a:xfrm>
                <a:off x="1804602" y="4969152"/>
                <a:ext cx="3423566" cy="7014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𝑑𝐼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𝑑𝑆𝑐𝑜𝑠</m:t>
                          </m:r>
                          <m:r>
                            <a:rPr lang="zh-CN" alt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l-GR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Ψ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l-GR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𝑑𝑆𝑐𝑜𝑠</m:t>
                          </m:r>
                          <m:r>
                            <a:rPr lang="zh-CN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31E3520-259A-4875-86FC-CBC6E8B576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4602" y="4969152"/>
                <a:ext cx="3423566" cy="7014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DB2AF0E3-9973-4236-8842-22C17859839D}"/>
              </a:ext>
            </a:extLst>
          </p:cNvPr>
          <p:cNvSpPr txBox="1"/>
          <p:nvPr/>
        </p:nvSpPr>
        <p:spPr>
          <a:xfrm>
            <a:off x="5592766" y="5165359"/>
            <a:ext cx="34932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单位：瓦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平方米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球面度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81732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AA1D38F-4CA8-429E-AC1E-D1CABEC8C912}"/>
              </a:ext>
            </a:extLst>
          </p:cNvPr>
          <p:cNvSpPr/>
          <p:nvPr/>
        </p:nvSpPr>
        <p:spPr>
          <a:xfrm>
            <a:off x="227318" y="176968"/>
            <a:ext cx="5391219" cy="55688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§11.3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余弦发射体和定向发射体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5F09644-DBBF-476B-B43E-18514516A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5948" y="1589875"/>
            <a:ext cx="3254000" cy="404036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D1C7057-8F0C-4716-889A-FE504DC6CD63}"/>
              </a:ext>
            </a:extLst>
          </p:cNvPr>
          <p:cNvSpPr txBox="1"/>
          <p:nvPr/>
        </p:nvSpPr>
        <p:spPr>
          <a:xfrm>
            <a:off x="227318" y="1025469"/>
            <a:ext cx="46474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）余弦发射体（朗伯发射体）</a:t>
            </a:r>
            <a:endParaRPr lang="zh-CN" altLang="en-US" sz="2400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FF01042-E078-48F6-899E-8B24AC9413AE}"/>
                  </a:ext>
                </a:extLst>
              </p:cNvPr>
              <p:cNvSpPr txBox="1"/>
              <p:nvPr/>
            </p:nvSpPr>
            <p:spPr>
              <a:xfrm>
                <a:off x="495609" y="1696550"/>
                <a:ext cx="3660288" cy="14138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5000"/>
                  </a:lnSpc>
                </a:pPr>
                <a:r>
                  <a:rPr lang="zh-CN" altLang="en-US" sz="24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若一扩展光源的发光强度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𝑑𝐼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𝑐𝑜𝑠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zh-CN" altLang="en-US" sz="24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，则其发光亮度</a:t>
                </a:r>
                <a:r>
                  <a:rPr lang="en-US" altLang="zh-CN" sz="24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B</a:t>
                </a:r>
                <a:r>
                  <a:rPr lang="zh-CN" altLang="en-US" sz="24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与方向无关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FF01042-E078-48F6-899E-8B24AC941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09" y="1696550"/>
                <a:ext cx="3660288" cy="1413849"/>
              </a:xfrm>
              <a:prstGeom prst="rect">
                <a:avLst/>
              </a:prstGeom>
              <a:blipFill>
                <a:blip r:embed="rId4"/>
                <a:stretch>
                  <a:fillRect l="-2496" t="-1724" r="-1664" b="-86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FBEF382-47E8-47E2-831A-386F1721E435}"/>
                  </a:ext>
                </a:extLst>
              </p:cNvPr>
              <p:cNvSpPr txBox="1"/>
              <p:nvPr/>
            </p:nvSpPr>
            <p:spPr>
              <a:xfrm>
                <a:off x="441790" y="3507314"/>
                <a:ext cx="3254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朗伯定律：按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zh-CN" altLang="en-US" sz="24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规律发射光通量的规律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FBEF382-47E8-47E2-831A-386F1721E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790" y="3507314"/>
                <a:ext cx="3254000" cy="830997"/>
              </a:xfrm>
              <a:prstGeom prst="rect">
                <a:avLst/>
              </a:prstGeom>
              <a:blipFill>
                <a:blip r:embed="rId5"/>
                <a:stretch>
                  <a:fillRect l="-2809" t="-8029" r="-2622" b="-153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03D6B94E-313A-4AC3-B113-42A6459ED398}"/>
              </a:ext>
            </a:extLst>
          </p:cNvPr>
          <p:cNvSpPr txBox="1"/>
          <p:nvPr/>
        </p:nvSpPr>
        <p:spPr>
          <a:xfrm>
            <a:off x="372319" y="4685358"/>
            <a:ext cx="4076391" cy="952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朗伯反射体：反射光的通量满足朗伯定律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23D90E1-0BA0-4164-AE0D-AF11644ADB68}"/>
              </a:ext>
            </a:extLst>
          </p:cNvPr>
          <p:cNvSpPr txBox="1"/>
          <p:nvPr/>
        </p:nvSpPr>
        <p:spPr>
          <a:xfrm>
            <a:off x="919815" y="5896826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太阳、理想的漫反射体</a:t>
            </a:r>
          </a:p>
        </p:txBody>
      </p:sp>
    </p:spTree>
    <p:extLst>
      <p:ext uri="{BB962C8B-B14F-4D97-AF65-F5344CB8AC3E}">
        <p14:creationId xmlns:p14="http://schemas.microsoft.com/office/powerpoint/2010/main" val="11321134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2F75CBB-FC4F-4741-8F91-2A509CFE5948}"/>
              </a:ext>
            </a:extLst>
          </p:cNvPr>
          <p:cNvSpPr txBox="1"/>
          <p:nvPr/>
        </p:nvSpPr>
        <p:spPr>
          <a:xfrm>
            <a:off x="431515" y="292813"/>
            <a:ext cx="25010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）定向发射体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0D7A5BD-8BB5-47A9-B19A-859A98A93F05}"/>
              </a:ext>
            </a:extLst>
          </p:cNvPr>
          <p:cNvSpPr/>
          <p:nvPr/>
        </p:nvSpPr>
        <p:spPr>
          <a:xfrm>
            <a:off x="611559" y="3501008"/>
            <a:ext cx="203132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激光：发散角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立体角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ACBDB740-64A8-4789-92C7-3BBC29275E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5909967"/>
              </p:ext>
            </p:extLst>
          </p:nvPr>
        </p:nvGraphicFramePr>
        <p:xfrm>
          <a:off x="2699792" y="3356992"/>
          <a:ext cx="3297759" cy="5073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20480" imgH="203040" progId="Equation.DSMT4">
                  <p:embed/>
                </p:oleObj>
              </mc:Choice>
              <mc:Fallback>
                <p:oleObj name="Equation" r:id="rId2" imgW="1320480" imgH="203040" progId="Equation.DSMT4">
                  <p:embed/>
                  <p:pic>
                    <p:nvPicPr>
                      <p:cNvPr id="16" name="对象 1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699792" y="3356992"/>
                        <a:ext cx="3297759" cy="5073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BD66282-64C6-44E6-B9BA-F102DF30B4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9819995"/>
              </p:ext>
            </p:extLst>
          </p:nvPr>
        </p:nvGraphicFramePr>
        <p:xfrm>
          <a:off x="2699792" y="3837083"/>
          <a:ext cx="415290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63560" imgH="203040" progId="Equation.DSMT4">
                  <p:embed/>
                </p:oleObj>
              </mc:Choice>
              <mc:Fallback>
                <p:oleObj name="Equation" r:id="rId4" imgW="1663560" imgH="203040" progId="Equation.DSMT4">
                  <p:embed/>
                  <p:pic>
                    <p:nvPicPr>
                      <p:cNvPr id="17" name="对象 1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99792" y="3837083"/>
                        <a:ext cx="4152900" cy="506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2FAD059D-9324-42E8-8D1B-C062FD6AE693}"/>
              </a:ext>
            </a:extLst>
          </p:cNvPr>
          <p:cNvSpPr/>
          <p:nvPr/>
        </p:nvSpPr>
        <p:spPr>
          <a:xfrm>
            <a:off x="1313930" y="4535783"/>
            <a:ext cx="664957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1mm</a:t>
            </a:r>
            <a:r>
              <a:rPr lang="en-US" altLang="zh-CN" sz="24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10mW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HeNe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激光，其辐射亮度 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2EAB2DED-C5A7-4E64-9E73-724F8D9A6A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0668869"/>
              </p:ext>
            </p:extLst>
          </p:nvPr>
        </p:nvGraphicFramePr>
        <p:xfrm>
          <a:off x="2006909" y="5013268"/>
          <a:ext cx="4849813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31840" imgH="393480" progId="Equation.DSMT4">
                  <p:embed/>
                </p:oleObj>
              </mc:Choice>
              <mc:Fallback>
                <p:oleObj name="Equation" r:id="rId6" imgW="2031840" imgH="393480" progId="Equation.DSMT4">
                  <p:embed/>
                  <p:pic>
                    <p:nvPicPr>
                      <p:cNvPr id="19" name="对象 1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006909" y="5013268"/>
                        <a:ext cx="4849813" cy="938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57E63474-7E95-4209-8D45-ED186CAD4FB0}"/>
              </a:ext>
            </a:extLst>
          </p:cNvPr>
          <p:cNvSpPr/>
          <p:nvPr/>
        </p:nvSpPr>
        <p:spPr>
          <a:xfrm>
            <a:off x="1317720" y="6090054"/>
            <a:ext cx="29258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太阳的辐射亮度 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9D15D110-902E-4C88-8126-15C0735654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8210289"/>
              </p:ext>
            </p:extLst>
          </p:nvPr>
        </p:nvGraphicFramePr>
        <p:xfrm>
          <a:off x="4165600" y="6059944"/>
          <a:ext cx="2608263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91880" imgH="203040" progId="Equation.DSMT4">
                  <p:embed/>
                </p:oleObj>
              </mc:Choice>
              <mc:Fallback>
                <p:oleObj name="Equation" r:id="rId8" imgW="1091880" imgH="203040" progId="Equation.DSMT4">
                  <p:embed/>
                  <p:pic>
                    <p:nvPicPr>
                      <p:cNvPr id="21" name="对象 20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165600" y="6059944"/>
                        <a:ext cx="2608263" cy="485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图片 19">
            <a:extLst>
              <a:ext uri="{FF2B5EF4-FFF2-40B4-BE49-F238E27FC236}">
                <a16:creationId xmlns:a16="http://schemas.microsoft.com/office/drawing/2014/main" id="{E85F4CB4-689E-4F51-87B1-F689DDAC54D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47711" y="1771942"/>
            <a:ext cx="6368207" cy="10514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800E835F-09F5-4986-BAB4-A82CA7CD080C}"/>
                  </a:ext>
                </a:extLst>
              </p:cNvPr>
              <p:cNvSpPr txBox="1"/>
              <p:nvPr/>
            </p:nvSpPr>
            <p:spPr>
              <a:xfrm>
                <a:off x="641135" y="860584"/>
                <a:ext cx="82702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发射光束集中在一定的立体角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ΔΩ</m:t>
                    </m:r>
                  </m:oMath>
                </a14:m>
                <a:r>
                  <a:rPr lang="zh-CN" altLang="en-US" sz="24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内，即亮度有一定的方向性</a:t>
                </a: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800E835F-09F5-4986-BAB4-A82CA7CD08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135" y="860584"/>
                <a:ext cx="8270213" cy="461665"/>
              </a:xfrm>
              <a:prstGeom prst="rect">
                <a:avLst/>
              </a:prstGeom>
              <a:blipFill>
                <a:blip r:embed="rId12"/>
                <a:stretch>
                  <a:fillRect l="-1105" t="-14474" r="-221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46148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93275F9-A92D-4D4C-A0A5-67363B6CC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07" y="1022753"/>
            <a:ext cx="5816724" cy="2115172"/>
          </a:xfrm>
          <a:prstGeom prst="rect">
            <a:avLst/>
          </a:prstGeom>
        </p:spPr>
      </p:pic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1A10D05D-F91F-43D1-80AC-86EF522F4B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9236116"/>
              </p:ext>
            </p:extLst>
          </p:nvPr>
        </p:nvGraphicFramePr>
        <p:xfrm>
          <a:off x="1826936" y="142043"/>
          <a:ext cx="1454150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72840" imgH="393480" progId="Equation.DSMT4">
                  <p:embed/>
                </p:oleObj>
              </mc:Choice>
              <mc:Fallback>
                <p:oleObj name="Equation" r:id="rId3" imgW="672840" imgH="39348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26936" y="142043"/>
                        <a:ext cx="1454150" cy="849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5DC17962-15FC-4D77-917F-952AC4DCCF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363" y="5280912"/>
            <a:ext cx="2200000" cy="102857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116C266-C355-4FBA-8F48-408CBF15F8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1271" y="1283565"/>
            <a:ext cx="1998222" cy="145325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4CFAFCF-13EF-4519-ADDC-AA0DFAA287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2290" y="3019947"/>
            <a:ext cx="2614286" cy="174285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D7A6075-08D6-4E19-8937-624201ECC37A}"/>
              </a:ext>
            </a:extLst>
          </p:cNvPr>
          <p:cNvSpPr/>
          <p:nvPr/>
        </p:nvSpPr>
        <p:spPr>
          <a:xfrm>
            <a:off x="4163229" y="3169322"/>
            <a:ext cx="4651999" cy="35871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常见光源的亮度：</a:t>
            </a: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大气层外看太阳：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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190,000熙提</a:t>
            </a: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地面看太阳： 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 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150,000熙提</a:t>
            </a: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白炽灯： 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 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500-1,500熙提</a:t>
            </a: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蜡烛火焰： 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 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0.5熙提</a:t>
            </a: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地面看满月： 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 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0.25熙提</a:t>
            </a: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无月夜空： 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 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10 </a:t>
            </a:r>
            <a:r>
              <a:rPr lang="zh-CN" altLang="en-US" sz="2200" baseline="30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-8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熙提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BD6F34C-CD02-4F57-A2A1-4A93A092F863}"/>
              </a:ext>
            </a:extLst>
          </p:cNvPr>
          <p:cNvSpPr txBox="1"/>
          <p:nvPr/>
        </p:nvSpPr>
        <p:spPr>
          <a:xfrm>
            <a:off x="484507" y="30798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光源亮度</a:t>
            </a:r>
          </a:p>
        </p:txBody>
      </p:sp>
    </p:spTree>
    <p:extLst>
      <p:ext uri="{BB962C8B-B14F-4D97-AF65-F5344CB8AC3E}">
        <p14:creationId xmlns:p14="http://schemas.microsoft.com/office/powerpoint/2010/main" val="3578440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F3F14E4-682B-4A2E-B17B-C5CDFE750C8C}"/>
              </a:ext>
            </a:extLst>
          </p:cNvPr>
          <p:cNvSpPr/>
          <p:nvPr/>
        </p:nvSpPr>
        <p:spPr>
          <a:xfrm>
            <a:off x="331117" y="228339"/>
            <a:ext cx="2159566" cy="55688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§11.4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照度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6D19147-9475-48DD-8D4A-6758C6515355}"/>
              </a:ext>
            </a:extLst>
          </p:cNvPr>
          <p:cNvSpPr/>
          <p:nvPr/>
        </p:nvSpPr>
        <p:spPr>
          <a:xfrm>
            <a:off x="467544" y="1124744"/>
            <a:ext cx="67906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照度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illuminance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）照射到单位面积上的光通量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FED5C3F-8EEE-4266-A771-5C871807CE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0773703"/>
              </p:ext>
            </p:extLst>
          </p:nvPr>
        </p:nvGraphicFramePr>
        <p:xfrm>
          <a:off x="888962" y="1728722"/>
          <a:ext cx="1296144" cy="89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71320" imgH="393480" progId="Equation.DSMT4">
                  <p:embed/>
                </p:oleObj>
              </mc:Choice>
              <mc:Fallback>
                <p:oleObj name="Equation" r:id="rId2" imgW="571320" imgH="39348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88962" y="1728722"/>
                        <a:ext cx="1296144" cy="89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1282A2AD-4C80-4F9A-A8DD-C55438FBAEF7}"/>
              </a:ext>
            </a:extLst>
          </p:cNvPr>
          <p:cNvSpPr/>
          <p:nvPr/>
        </p:nvSpPr>
        <p:spPr>
          <a:xfrm>
            <a:off x="2611484" y="1944340"/>
            <a:ext cx="36952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单位：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Lux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，勒克斯，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2CE3CA6-5396-4DF1-9E41-10CFA8B362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7916194"/>
              </p:ext>
            </p:extLst>
          </p:nvPr>
        </p:nvGraphicFramePr>
        <p:xfrm>
          <a:off x="6434243" y="1774461"/>
          <a:ext cx="576263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800" imgH="393480" progId="Equation.DSMT4">
                  <p:embed/>
                </p:oleObj>
              </mc:Choice>
              <mc:Fallback>
                <p:oleObj name="Equation" r:id="rId4" imgW="253800" imgH="393480" progId="Equation.DSMT4">
                  <p:embed/>
                  <p:pic>
                    <p:nvPicPr>
                      <p:cNvPr id="24" name="对象 2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434243" y="1774461"/>
                        <a:ext cx="576263" cy="892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1F657129-5004-43F4-96BF-30EA00D35B12}"/>
              </a:ext>
            </a:extLst>
          </p:cNvPr>
          <p:cNvSpPr/>
          <p:nvPr/>
        </p:nvSpPr>
        <p:spPr>
          <a:xfrm>
            <a:off x="155710" y="3117575"/>
            <a:ext cx="37513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）点光源产生的照度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61DAC2B5-0D56-470C-AAC4-898D385277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1905344"/>
              </p:ext>
            </p:extLst>
          </p:nvPr>
        </p:nvGraphicFramePr>
        <p:xfrm>
          <a:off x="604733" y="3960616"/>
          <a:ext cx="3771900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63560" imgH="203040" progId="Equation.DSMT4">
                  <p:embed/>
                </p:oleObj>
              </mc:Choice>
              <mc:Fallback>
                <p:oleObj name="Equation" r:id="rId6" imgW="1663560" imgH="203040" progId="Equation.DSMT4">
                  <p:embed/>
                  <p:pic>
                    <p:nvPicPr>
                      <p:cNvPr id="25" name="对象 2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04733" y="3960616"/>
                        <a:ext cx="3771900" cy="461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9248E44E-03A0-41DD-97F1-FCADF5035A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848109"/>
              </p:ext>
            </p:extLst>
          </p:nvPr>
        </p:nvGraphicFramePr>
        <p:xfrm>
          <a:off x="692327" y="4837906"/>
          <a:ext cx="2678113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80800" imgH="393480" progId="Equation.DSMT4">
                  <p:embed/>
                </p:oleObj>
              </mc:Choice>
              <mc:Fallback>
                <p:oleObj name="Equation" r:id="rId8" imgW="1180800" imgH="393480" progId="Equation.DSMT4">
                  <p:embed/>
                  <p:pic>
                    <p:nvPicPr>
                      <p:cNvPr id="26" name="对象 2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92327" y="4837906"/>
                        <a:ext cx="2678113" cy="895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02021FAD-E535-49B8-BC58-367A658E0986}"/>
              </a:ext>
            </a:extLst>
          </p:cNvPr>
          <p:cNvSpPr/>
          <p:nvPr/>
        </p:nvSpPr>
        <p:spPr>
          <a:xfrm>
            <a:off x="467544" y="6024157"/>
            <a:ext cx="29883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 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点光源的发光强度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F26F92C-A179-4BB2-A9A8-728D8941A98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59105" y="3298871"/>
            <a:ext cx="4361537" cy="2956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3701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E406693-6E44-4C2C-8D13-3EB2AF92E11C}"/>
              </a:ext>
            </a:extLst>
          </p:cNvPr>
          <p:cNvSpPr/>
          <p:nvPr/>
        </p:nvSpPr>
        <p:spPr>
          <a:xfrm>
            <a:off x="436899" y="386452"/>
            <a:ext cx="37513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）面光源产生的照度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12">
                <a:extLst>
                  <a:ext uri="{FF2B5EF4-FFF2-40B4-BE49-F238E27FC236}">
                    <a16:creationId xmlns:a16="http://schemas.microsoft.com/office/drawing/2014/main" id="{9CA95909-7555-4924-BE92-D1F7382F68D7}"/>
                  </a:ext>
                </a:extLst>
              </p:cNvPr>
              <p:cNvSpPr txBox="1"/>
              <p:nvPr/>
            </p:nvSpPr>
            <p:spPr>
              <a:xfrm>
                <a:off x="923265" y="4583962"/>
                <a:ext cx="6075362" cy="895350"/>
              </a:xfrm>
              <a:prstGeom prst="rect">
                <a:avLst/>
              </a:prstGeom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𝐵𝑑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𝑑𝑠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𝑑𝑠𝑑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func>
                                <m:func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8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对象 12">
                <a:extLst>
                  <a:ext uri="{FF2B5EF4-FFF2-40B4-BE49-F238E27FC236}">
                    <a16:creationId xmlns:a16="http://schemas.microsoft.com/office/drawing/2014/main" id="{9CA95909-7555-4924-BE92-D1F7382F68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265" y="4583962"/>
                <a:ext cx="6075362" cy="8953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>
                <a:extLst>
                  <a:ext uri="{FF2B5EF4-FFF2-40B4-BE49-F238E27FC236}">
                    <a16:creationId xmlns:a16="http://schemas.microsoft.com/office/drawing/2014/main" id="{927B23A0-502C-4A81-82CB-BF09DC0C96B0}"/>
                  </a:ext>
                </a:extLst>
              </p:cNvPr>
              <p:cNvSpPr txBox="1"/>
              <p:nvPr/>
            </p:nvSpPr>
            <p:spPr>
              <a:xfrm>
                <a:off x="923265" y="5685520"/>
                <a:ext cx="4214581" cy="89535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den>
                      </m:f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subHide m:val="on"/>
                          <m:supHide m:val="on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𝐵𝑑𝑠</m:t>
                              </m:r>
                              <m:func>
                                <m:func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4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  <m:sSup>
                                <m:sSup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func>
                                    <m:funcPr>
                                      <m:ctrlPr>
                                        <a:rPr lang="zh-CN" alt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4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zh-CN" alt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func>
                                </m:e>
                                <m:sup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" name="对象 3">
                <a:extLst>
                  <a:ext uri="{FF2B5EF4-FFF2-40B4-BE49-F238E27FC236}">
                    <a16:creationId xmlns:a16="http://schemas.microsoft.com/office/drawing/2014/main" id="{927B23A0-502C-4A81-82CB-BF09DC0C96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265" y="5685520"/>
                <a:ext cx="4214581" cy="8953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>
            <a:extLst>
              <a:ext uri="{FF2B5EF4-FFF2-40B4-BE49-F238E27FC236}">
                <a16:creationId xmlns:a16="http://schemas.microsoft.com/office/drawing/2014/main" id="{D11CC08D-1556-426A-AD64-818352689817}"/>
              </a:ext>
            </a:extLst>
          </p:cNvPr>
          <p:cNvSpPr/>
          <p:nvPr/>
        </p:nvSpPr>
        <p:spPr>
          <a:xfrm>
            <a:off x="5569183" y="5779050"/>
            <a:ext cx="24577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 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面光源的亮度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38329B0-2A20-4222-AD82-F0EA82A3F5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217" y="848117"/>
            <a:ext cx="6585776" cy="316193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CE258B5-580C-4419-9DAE-7E3C1DBED3F4}"/>
              </a:ext>
            </a:extLst>
          </p:cNvPr>
          <p:cNvSpPr txBox="1"/>
          <p:nvPr/>
        </p:nvSpPr>
        <p:spPr>
          <a:xfrm>
            <a:off x="277403" y="4094199"/>
            <a:ext cx="31598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根据发光亮度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的定义</a:t>
            </a:r>
          </a:p>
        </p:txBody>
      </p:sp>
    </p:spTree>
    <p:extLst>
      <p:ext uri="{BB962C8B-B14F-4D97-AF65-F5344CB8AC3E}">
        <p14:creationId xmlns:p14="http://schemas.microsoft.com/office/powerpoint/2010/main" val="2608376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DE01AE8C-E1F0-496A-9CC9-FE34CBBB8FEE}"/>
              </a:ext>
            </a:extLst>
          </p:cNvPr>
          <p:cNvSpPr/>
          <p:nvPr/>
        </p:nvSpPr>
        <p:spPr>
          <a:xfrm>
            <a:off x="538435" y="365665"/>
            <a:ext cx="7594517" cy="33508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66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常见实际情况的照度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晴朗夏日室外非阳光直射处： 1,000—10,000勒克斯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晴朗夏日采光良好的室内： 100—500勒克斯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天顶满月时的地面： ~0.2勒克斯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无月夜的地面： ~2×10</a:t>
            </a:r>
            <a:r>
              <a:rPr lang="zh-CN" altLang="en-US" sz="2400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-4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勒克斯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办公场所的要求： ~20—100勒克斯</a:t>
            </a:r>
          </a:p>
        </p:txBody>
      </p:sp>
      <p:pic>
        <p:nvPicPr>
          <p:cNvPr id="5122" name="Picture 2" descr="https://img2.baidu.com/it/u=3943483988,174640737&amp;fm=253&amp;fmt=auto&amp;app=138&amp;f=JPEG?w=705&amp;h=500">
            <a:extLst>
              <a:ext uri="{FF2B5EF4-FFF2-40B4-BE49-F238E27FC236}">
                <a16:creationId xmlns:a16="http://schemas.microsoft.com/office/drawing/2014/main" id="{CA3DE6CF-14CE-4C96-9368-CA0DDB36F7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63" y="4171560"/>
            <a:ext cx="3339101" cy="2368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ttps://img1.baidu.com/it/u=3819556309,745650560&amp;fm=253&amp;fmt=auto&amp;app=138&amp;f=JPEG?w=500&amp;h=375">
            <a:extLst>
              <a:ext uri="{FF2B5EF4-FFF2-40B4-BE49-F238E27FC236}">
                <a16:creationId xmlns:a16="http://schemas.microsoft.com/office/drawing/2014/main" id="{03F3921B-34CA-4F9D-B27E-83BDD2B417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4138" y="4171559"/>
            <a:ext cx="3200399" cy="2400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83122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E05C54-5EA3-450F-BCF1-B9BA17E0B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7C05EB-25E8-413F-8C2E-62E160E80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737777"/>
          </a:xfrm>
        </p:spPr>
        <p:txBody>
          <a:bodyPr/>
          <a:lstStyle/>
          <a:p>
            <a:r>
              <a:rPr lang="en-US" altLang="zh-CN" b="1" dirty="0"/>
              <a:t>P98 - 5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993258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D95D5A-C789-4BF8-BAD4-F343C1F62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529" y="300198"/>
            <a:ext cx="3656586" cy="538453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几何光学的核心内容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0DC9958-4917-4314-82A9-99302AA6FF6D}"/>
              </a:ext>
            </a:extLst>
          </p:cNvPr>
          <p:cNvSpPr txBox="1"/>
          <p:nvPr/>
        </p:nvSpPr>
        <p:spPr>
          <a:xfrm>
            <a:off x="579954" y="984738"/>
            <a:ext cx="6494085" cy="1113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几何光学三定律 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+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惠更斯原理 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+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费马原理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共轴球面光具组成像公式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C58E6FD-DA30-456B-A12B-1DBBB87023F5}"/>
              </a:ext>
            </a:extLst>
          </p:cNvPr>
          <p:cNvSpPr txBox="1"/>
          <p:nvPr/>
        </p:nvSpPr>
        <p:spPr>
          <a:xfrm>
            <a:off x="1509571" y="2742269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高斯公式：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5506B09-FC19-4C88-B162-F312D361C45E}"/>
                  </a:ext>
                </a:extLst>
              </p:cNvPr>
              <p:cNvSpPr txBox="1"/>
              <p:nvPr/>
            </p:nvSpPr>
            <p:spPr>
              <a:xfrm>
                <a:off x="3665715" y="2616048"/>
                <a:ext cx="1373389" cy="714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den>
                    </m:f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lang="en-US" altLang="zh-CN" sz="32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=1</a:t>
                </a:r>
                <a:endParaRPr lang="zh-CN" altLang="en-US" sz="32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5506B09-FC19-4C88-B162-F312D361C4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5715" y="2616048"/>
                <a:ext cx="1373389" cy="714106"/>
              </a:xfrm>
              <a:prstGeom prst="rect">
                <a:avLst/>
              </a:prstGeom>
              <a:blipFill>
                <a:blip r:embed="rId2"/>
                <a:stretch>
                  <a:fillRect t="-5983" r="-16814" b="-145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10005246-46DF-4B9F-9BCD-DFB676E732D5}"/>
              </a:ext>
            </a:extLst>
          </p:cNvPr>
          <p:cNvSpPr txBox="1"/>
          <p:nvPr/>
        </p:nvSpPr>
        <p:spPr>
          <a:xfrm>
            <a:off x="1509571" y="4160790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牛顿公式：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320BBB5-C2FB-4133-A494-3DA0E27C577F}"/>
                  </a:ext>
                </a:extLst>
              </p:cNvPr>
              <p:cNvSpPr txBox="1"/>
              <p:nvPr/>
            </p:nvSpPr>
            <p:spPr>
              <a:xfrm>
                <a:off x="3466814" y="4176178"/>
                <a:ext cx="157229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𝑓𝑓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320BBB5-C2FB-4133-A494-3DA0E27C57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6814" y="4176178"/>
                <a:ext cx="1572290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B738F923-DCA9-4A0C-BBD9-3BB668812E5A}"/>
              </a:ext>
            </a:extLst>
          </p:cNvPr>
          <p:cNvSpPr txBox="1"/>
          <p:nvPr/>
        </p:nvSpPr>
        <p:spPr>
          <a:xfrm>
            <a:off x="441190" y="5222256"/>
            <a:ext cx="8802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需要解决的问题：各参数的定义及在具体系统中各参数的计算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E0E191B-7262-C24B-1D3F-1387AFB8A958}"/>
              </a:ext>
            </a:extLst>
          </p:cNvPr>
          <p:cNvSpPr txBox="1"/>
          <p:nvPr/>
        </p:nvSpPr>
        <p:spPr>
          <a:xfrm>
            <a:off x="579954" y="5873262"/>
            <a:ext cx="1723549" cy="559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作图法 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69849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10539</TotalTime>
  <Words>790</Words>
  <Application>Microsoft Office PowerPoint</Application>
  <PresentationFormat>全屏显示(4:3)</PresentationFormat>
  <Paragraphs>102</Paragraphs>
  <Slides>18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等线</vt:lpstr>
      <vt:lpstr>等线 Light</vt:lpstr>
      <vt:lpstr>黑体</vt:lpstr>
      <vt:lpstr>微软雅黑</vt:lpstr>
      <vt:lpstr>Arial</vt:lpstr>
      <vt:lpstr>Cambria Math</vt:lpstr>
      <vt:lpstr>Times New Roman</vt:lpstr>
      <vt:lpstr>Office 主题​​</vt:lpstr>
      <vt:lpstr>Equation</vt:lpstr>
      <vt:lpstr>§11 光度学基本概念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作业</vt:lpstr>
      <vt:lpstr>几何光学的核心内容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§12 光度学基本概念</dc:title>
  <dc:creator>lenovo</dc:creator>
  <cp:lastModifiedBy>ZHANG</cp:lastModifiedBy>
  <cp:revision>46</cp:revision>
  <dcterms:created xsi:type="dcterms:W3CDTF">2022-09-11T13:21:09Z</dcterms:created>
  <dcterms:modified xsi:type="dcterms:W3CDTF">2025-10-13T14:37:09Z</dcterms:modified>
</cp:coreProperties>
</file>